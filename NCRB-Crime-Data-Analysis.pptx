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Fraunces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discipline of the next step. Add context and automation before adding complexity. Categories can overlap, and reported counts depend on definitions and preparation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5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555" y="1879600"/>
            <a:ext cx="685147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492B3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ANALYTICS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0555" y="2171700"/>
            <a:ext cx="6241894" cy="168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200" spc="-288" kern="100" dirty="0">
                <a:solidFill>
                  <a:srgbClr val="492B3C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NCRB Crime Data Analysis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90555" y="4069953"/>
            <a:ext cx="6241894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92B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5,920 records to a five-page Power BI dashboard spanning 2017–2022.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90555" y="5001220"/>
            <a:ext cx="2059730" cy="31651"/>
          </a:xfrm>
          <a:prstGeom prst="roundRect">
            <a:avLst>
              <a:gd name="adj" fmla="val 49998"/>
            </a:avLst>
          </a:prstGeom>
          <a:solidFill>
            <a:srgbClr val="96265D"/>
          </a:solidFill>
          <a:ln/>
        </p:spPr>
      </p:sp>
      <p:sp>
        <p:nvSpPr>
          <p:cNvPr id="6" name="Text 4"/>
          <p:cNvSpPr/>
          <p:nvPr/>
        </p:nvSpPr>
        <p:spPr>
          <a:xfrm>
            <a:off x="790555" y="5279033"/>
            <a:ext cx="685147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492B3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PYTHON · SQL · POWER BI · DAX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STARTING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Raw crime data is hard to read at scale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47800"/>
            <a:ext cx="11734506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years, states, districts, registration circles and crime classifications sit in one wide dataset.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189" y="3162796"/>
            <a:ext cx="35305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Manual comparison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3572371"/>
            <a:ext cx="353051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Repeated lookups make patterns slow to see and difficult to reuse.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44889" y="3162796"/>
            <a:ext cx="330191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Three core questions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44889" y="3572371"/>
            <a:ext cx="3301917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are volumes highest? How do categories shift? What changed year over year?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03995" y="3162796"/>
            <a:ext cx="35305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Project response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03995" y="3572371"/>
            <a:ext cx="353051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the wide source into reusable analytical views for decisions.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189" y="5916613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98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SOURCE DATA · MULTIYEAR · MULTILEVEL · MULTICATEGORY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9945" y="3162796"/>
            <a:ext cx="12700" cy="1329035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7969051" y="3162796"/>
            <a:ext cx="12700" cy="1329035"/>
          </a:xfrm>
          <a:prstGeom prst="rect">
            <a:avLst/>
          </a:prstGeom>
          <a:solidFill>
            <a:srgbClr val="C98A8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One workflow connects preparation to decision-making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982788"/>
            <a:ext cx="2819329" cy="31651"/>
          </a:xfrm>
          <a:prstGeom prst="roundRect">
            <a:avLst>
              <a:gd name="adj" fmla="val 49998"/>
            </a:avLst>
          </a:prstGeom>
          <a:solidFill>
            <a:srgbClr val="962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394075"/>
            <a:ext cx="835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3696295"/>
            <a:ext cx="2476438" cy="19050"/>
          </a:xfrm>
          <a:prstGeom prst="rect">
            <a:avLst/>
          </a:prstGeom>
          <a:solidFill>
            <a:srgbClr val="FFF1D3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3844826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Excel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4254401"/>
            <a:ext cx="247643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data enters the workflow.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90815" y="3394075"/>
            <a:ext cx="8836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90815" y="3696295"/>
            <a:ext cx="2476438" cy="19050"/>
          </a:xfrm>
          <a:prstGeom prst="rect">
            <a:avLst/>
          </a:prstGeom>
          <a:solidFill>
            <a:srgbClr val="FFF1D3"/>
          </a:solidFill>
          <a:ln/>
        </p:spPr>
      </p:sp>
      <p:sp>
        <p:nvSpPr>
          <p:cNvPr id="11" name="Text 9"/>
          <p:cNvSpPr/>
          <p:nvPr/>
        </p:nvSpPr>
        <p:spPr>
          <a:xfrm>
            <a:off x="3390815" y="3844826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Python + Pandas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0815" y="4254401"/>
            <a:ext cx="247643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Inspect, validate and clean.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3394075"/>
            <a:ext cx="88967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24442" y="3696295"/>
            <a:ext cx="2476438" cy="19050"/>
          </a:xfrm>
          <a:prstGeom prst="rect">
            <a:avLst/>
          </a:prstGeom>
          <a:solidFill>
            <a:srgbClr val="FFF1D3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3844826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SQL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24442" y="4254401"/>
            <a:ext cx="247643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 and shape reusable views.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58068" y="3394075"/>
            <a:ext cx="898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58068" y="3696295"/>
            <a:ext cx="2476438" cy="19050"/>
          </a:xfrm>
          <a:prstGeom prst="rect">
            <a:avLst/>
          </a:prstGeom>
          <a:solidFill>
            <a:srgbClr val="FFF1D3"/>
          </a:solidFill>
          <a:ln/>
        </p:spPr>
      </p:sp>
      <p:sp>
        <p:nvSpPr>
          <p:cNvPr id="19" name="Text 17"/>
          <p:cNvSpPr/>
          <p:nvPr/>
        </p:nvSpPr>
        <p:spPr>
          <a:xfrm>
            <a:off x="9258068" y="3844826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Power BI + DAX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58068" y="4254401"/>
            <a:ext cx="247643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Visualize and calculate dynamic KPIs.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189" y="6194524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PREPARE · MODEL · EXPLAIN · DECIDE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dataset supports four analytical lenses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447800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09" y="1622425"/>
            <a:ext cx="323842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247900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Time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189" y="2657475"/>
            <a:ext cx="563865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2017–2022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24442" y="1447800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62" y="1622425"/>
            <a:ext cx="323842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2" y="2247900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Geography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24442" y="2657475"/>
            <a:ext cx="541006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State, district and registration circle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189" y="3787775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09" y="3962400"/>
            <a:ext cx="323842" cy="323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189" y="4587875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Categories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7189" y="4997450"/>
            <a:ext cx="563865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crime-related measures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324442" y="3787775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62" y="3962400"/>
            <a:ext cx="323842" cy="323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4442" y="4587875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Structure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324442" y="4997450"/>
            <a:ext cx="541006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Approximately 5,920 records and 31 columns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57189" y="5916613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98A82"/>
          </a:solidFill>
          <a:ln/>
        </p:spPr>
      </p:sp>
      <p:sp>
        <p:nvSpPr>
          <p:cNvPr id="21" name="Text 15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FOUR LENSES · ONE REPORTING VIEW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089498" y="1447800"/>
            <a:ext cx="12700" cy="2111375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23" name="Shape 17"/>
          <p:cNvSpPr/>
          <p:nvPr/>
        </p:nvSpPr>
        <p:spPr>
          <a:xfrm>
            <a:off x="457189" y="3552825"/>
            <a:ext cx="5638659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24" name="Shape 18"/>
          <p:cNvSpPr/>
          <p:nvPr/>
        </p:nvSpPr>
        <p:spPr>
          <a:xfrm>
            <a:off x="6089498" y="3559175"/>
            <a:ext cx="12700" cy="2111375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6095848" y="3552825"/>
            <a:ext cx="5638659" cy="12700"/>
          </a:xfrm>
          <a:prstGeom prst="rect">
            <a:avLst/>
          </a:prstGeom>
          <a:solidFill>
            <a:srgbClr val="C98A8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REUSABLE SQL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SQL turns repeated calculations into reusable views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930400"/>
            <a:ext cx="1173450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view gives Power BI a cleaner question to answer.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414687"/>
          <a:ext cx="11277318" cy="914400"/>
        </p:xfrm>
        <a:graphic>
          <a:graphicData uri="http://schemas.openxmlformats.org/drawingml/2006/table">
            <a:tbl>
              <a:tblPr/>
              <a:tblGrid>
                <a:gridCol w="3098028"/>
                <a:gridCol w="3502830"/>
                <a:gridCol w="4352519"/>
                <a:gridCol w="323941"/>
              </a:tblGrid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View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Purpose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Analytical use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</a:tr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vw_crime_long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Long-format category analysis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Compare measures consistently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</a:tr>
              <a:tr h="491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vw_pbi_yearly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Year and category analysis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Track change over time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</a:tr>
              <a:tr h="798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vw_pbi_state / vw_pbi_district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Geographic comparisons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Rank places at different levels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</a:tr>
              <a:tr h="4791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vw_pbi_yoy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Current, prior-year and growth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Explain year-over-year movement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D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189" y="2893802"/>
            <a:ext cx="11277318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7" name="Shape 4"/>
          <p:cNvSpPr/>
          <p:nvPr/>
        </p:nvSpPr>
        <p:spPr>
          <a:xfrm>
            <a:off x="457189" y="3385617"/>
            <a:ext cx="11277318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8" name="Shape 5"/>
          <p:cNvSpPr/>
          <p:nvPr/>
        </p:nvSpPr>
        <p:spPr>
          <a:xfrm>
            <a:off x="457189" y="3877432"/>
            <a:ext cx="11277318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9" name="Shape 6"/>
          <p:cNvSpPr/>
          <p:nvPr/>
        </p:nvSpPr>
        <p:spPr>
          <a:xfrm>
            <a:off x="457189" y="4675726"/>
            <a:ext cx="11277318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189" y="5916613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98A82"/>
          </a:solidFill>
          <a:ln/>
        </p:spPr>
      </p:sp>
      <p:sp>
        <p:nvSpPr>
          <p:cNvPr id="11" name="Text 8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EXAMPLE · AGGREGATE TOTAL CASES BY YEAR AND STATE, THEN RANK WITHIN EACH YEAR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REPORT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dashboard moves from overview to explanation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2847876"/>
            <a:ext cx="472170" cy="472182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3862" y="2921992"/>
            <a:ext cx="94840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57189" y="3405783"/>
            <a:ext cx="188967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Executive Overview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4069358"/>
            <a:ext cx="188967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Headline KPIs and trends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03951" y="2847876"/>
            <a:ext cx="544400" cy="544413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0624" y="2958108"/>
            <a:ext cx="102063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803951" y="3478014"/>
            <a:ext cx="188987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Crime Category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03951" y="4141589"/>
            <a:ext cx="1889871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 and selected-category trends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50912" y="2847876"/>
            <a:ext cx="553428" cy="553442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7585" y="2962672"/>
            <a:ext cx="102966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150912" y="3487043"/>
            <a:ext cx="188977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State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50912" y="3896618"/>
            <a:ext cx="188977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 and category composition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7773" y="2847876"/>
            <a:ext cx="566029" cy="566043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447" y="2968923"/>
            <a:ext cx="104226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497773" y="3499644"/>
            <a:ext cx="188987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District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97773" y="3909219"/>
            <a:ext cx="188987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comparison across 24 districts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44734" y="2847876"/>
            <a:ext cx="559580" cy="559594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11408" y="2965748"/>
            <a:ext cx="10358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05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844734" y="3493195"/>
            <a:ext cx="188977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Year over Year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44734" y="3902770"/>
            <a:ext cx="188977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Current, previous and growth percentage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OVERVIEW → DISTRIBUTION → GEOGRAPHY → CHANGE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HEADLINE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headline KPI is 8.66 million reported cases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2406749"/>
            <a:ext cx="6131367" cy="1121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9600" spc="-384" kern="100" dirty="0">
                <a:solidFill>
                  <a:srgbClr val="A5474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8.66M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189" y="3772098"/>
            <a:ext cx="6131367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reported cases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189" y="4294088"/>
            <a:ext cx="2023218" cy="31651"/>
          </a:xfrm>
          <a:prstGeom prst="roundRect">
            <a:avLst>
              <a:gd name="adj" fmla="val 49998"/>
            </a:avLst>
          </a:prstGeom>
          <a:solidFill>
            <a:srgbClr val="96265D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4505226"/>
            <a:ext cx="613136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LATEST YEAR · 2022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5645" y="1600200"/>
            <a:ext cx="46888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Tamil Nadu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5645" y="2009775"/>
            <a:ext cx="468886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crime state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5645" y="3007717"/>
            <a:ext cx="46888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−6.4%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5645" y="3417292"/>
            <a:ext cx="468886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 change from 2021 to 2022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5645" y="4415334"/>
            <a:ext cx="46888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10.99K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5645" y="4824909"/>
            <a:ext cx="468886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 average cases per district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189" y="5916613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98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REPORTED CASE COUNTS · NOT UNDERLYING CRIME INCIDENCE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5645" y="2848967"/>
            <a:ext cx="4688862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5645" y="4256584"/>
            <a:ext cx="4688862" cy="12700"/>
          </a:xfrm>
          <a:prstGeom prst="rect">
            <a:avLst/>
          </a:prstGeom>
          <a:solidFill>
            <a:srgbClr val="C98A8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DYNAMIC DAX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Dynamic measures make the report reusable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47800"/>
            <a:ext cx="1173450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DAX keeps KPIs responsive to slicers and selected years instead of freezing them as static numbers.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2968823"/>
            <a:ext cx="2590735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200" spc="-208" kern="100" dirty="0">
                <a:solidFill>
                  <a:srgbClr val="A5474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Σ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189" y="3703340"/>
            <a:ext cx="259073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Total Reported Cases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4112915"/>
            <a:ext cx="281932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 of 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FF7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05112" y="2968823"/>
            <a:ext cx="2362141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200" spc="-208" kern="100" dirty="0">
                <a:solidFill>
                  <a:srgbClr val="A5474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MAX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505112" y="3703340"/>
            <a:ext cx="236214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Latest Year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05112" y="4112915"/>
            <a:ext cx="236214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Maximum year in the reporting view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24442" y="2968823"/>
            <a:ext cx="2362141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200" spc="-208" kern="100" dirty="0">
                <a:solidFill>
                  <a:srgbClr val="A5474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324442" y="3703340"/>
            <a:ext cx="236214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YoY Growth 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24442" y="4112915"/>
            <a:ext cx="236214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Current-year versus previous-year cases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3771" y="2968823"/>
            <a:ext cx="2590735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200" spc="-208" kern="100" dirty="0">
                <a:solidFill>
                  <a:srgbClr val="A5474A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AVG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143771" y="3703340"/>
            <a:ext cx="25907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Average Cases per District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3771" y="4366915"/>
            <a:ext cx="259073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across district totals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MEASURES RESPOND TO FILTERS, YEARS AND USER SELECTION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70168" y="2968823"/>
            <a:ext cx="12700" cy="2011065"/>
          </a:xfrm>
          <a:prstGeom prst="rect">
            <a:avLst/>
          </a:prstGeom>
          <a:solidFill>
            <a:srgbClr val="C56A78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498" y="2968823"/>
            <a:ext cx="12700" cy="2011065"/>
          </a:xfrm>
          <a:prstGeom prst="rect">
            <a:avLst/>
          </a:prstGeom>
          <a:solidFill>
            <a:srgbClr val="C56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8908827" y="2968823"/>
            <a:ext cx="12700" cy="2011065"/>
          </a:xfrm>
          <a:prstGeom prst="rect">
            <a:avLst/>
          </a:prstGeom>
          <a:solidFill>
            <a:srgbClr val="C56A7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CAPABILITY SIGNAL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493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95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What the project demonstrates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447800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09" y="1622425"/>
            <a:ext cx="323842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247900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Data-quality inspection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189" y="2657475"/>
            <a:ext cx="541006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and Pandas make validation visible before analysis begins.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24442" y="1447800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62" y="1622425"/>
            <a:ext cx="323842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2" y="2247900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Reusable transformations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24442" y="2657475"/>
            <a:ext cx="541006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aggregation turns repeated logic into analytical views.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189" y="3787775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09" y="3962400"/>
            <a:ext cx="323842" cy="323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189" y="4587875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Dashboard design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7189" y="4997450"/>
            <a:ext cx="541006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KPIs, charts, slicers and tables give the report a usable surface.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324442" y="3787775"/>
            <a:ext cx="673083" cy="673100"/>
          </a:xfrm>
          <a:prstGeom prst="ellipse">
            <a:avLst/>
          </a:prstGeom>
          <a:solidFill>
            <a:srgbClr val="F6E4BE"/>
          </a:solidFill>
          <a:ln w="12700">
            <a:solidFill>
              <a:srgbClr val="DCCAA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62" y="3962400"/>
            <a:ext cx="323842" cy="323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4442" y="4587875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50" kern="10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DAX logic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324442" y="4997450"/>
            <a:ext cx="541006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Rankings, averages and year-over-year analysis stay responsive.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57189" y="5916613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98A82"/>
          </a:solidFill>
          <a:ln/>
        </p:spPr>
      </p:sp>
      <p:sp>
        <p:nvSpPr>
          <p:cNvPr id="21" name="Text 15"/>
          <p:cNvSpPr/>
          <p:nvPr/>
        </p:nvSpPr>
        <p:spPr>
          <a:xfrm>
            <a:off x="457189" y="6194425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INSPECT · TRANSFORM · VISUALIZE · CALCULATE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089498" y="1447800"/>
            <a:ext cx="12700" cy="2111375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23" name="Shape 17"/>
          <p:cNvSpPr/>
          <p:nvPr/>
        </p:nvSpPr>
        <p:spPr>
          <a:xfrm>
            <a:off x="457189" y="3552825"/>
            <a:ext cx="5638659" cy="12700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24" name="Shape 18"/>
          <p:cNvSpPr/>
          <p:nvPr/>
        </p:nvSpPr>
        <p:spPr>
          <a:xfrm>
            <a:off x="6089498" y="3559175"/>
            <a:ext cx="12700" cy="2111375"/>
          </a:xfrm>
          <a:prstGeom prst="rect">
            <a:avLst/>
          </a:prstGeom>
          <a:solidFill>
            <a:srgbClr val="C98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6095848" y="3552825"/>
            <a:ext cx="5638659" cy="12700"/>
          </a:xfrm>
          <a:prstGeom prst="rect">
            <a:avLst/>
          </a:prstGeom>
          <a:solidFill>
            <a:srgbClr val="C98A8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82" y="1574800"/>
            <a:ext cx="7619809" cy="5259884"/>
          </a:xfrm>
          <a:prstGeom prst="roundRect">
            <a:avLst>
              <a:gd name="adj" fmla="val 616"/>
            </a:avLst>
          </a:prstGeom>
          <a:solidFill>
            <a:srgbClr val="FFF7E9"/>
          </a:solidFill>
          <a:ln/>
          <a:effectLst>
            <a:outerShdw sx="100000" sy="100000" kx="0" ky="0" algn="bl" rotWithShape="0" blurRad="455930" dist="176530" dir="5400000">
              <a:srgbClr val="241126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2173" y="1905000"/>
            <a:ext cx="75182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0" kern="100" dirty="0">
                <a:solidFill>
                  <a:srgbClr val="492B3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NEXT ITERATION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2173" y="2197100"/>
            <a:ext cx="69086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spc="-120" kern="100" dirty="0">
                <a:solidFill>
                  <a:srgbClr val="492B3C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next step is stronger context, not more complexity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2173" y="4294188"/>
            <a:ext cx="2279692" cy="31651"/>
          </a:xfrm>
          <a:prstGeom prst="roundRect">
            <a:avLst>
              <a:gd name="adj" fmla="val 49998"/>
            </a:avLst>
          </a:prstGeom>
          <a:solidFill>
            <a:srgbClr val="96265D"/>
          </a:solidFill>
          <a:ln/>
        </p:spPr>
      </p:sp>
      <p:sp>
        <p:nvSpPr>
          <p:cNvPr id="6" name="Text 4"/>
          <p:cNvSpPr/>
          <p:nvPr/>
        </p:nvSpPr>
        <p:spPr>
          <a:xfrm>
            <a:off x="1092173" y="4572000"/>
            <a:ext cx="6908627" cy="15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92B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population-normalized crime rates, geographic maps and selected-category forecasting. Automate refresh from source data through SQL and Power BI. Use a formal star schema for larger analytical workloads. Categories can overlap, and reported counts depend on definitions and preparation logic.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2173" y="6298109"/>
            <a:ext cx="75182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56" kern="100" dirty="0">
                <a:solidFill>
                  <a:srgbClr val="492B3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KEEP THE INTERPRETATION DISCIPLINED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2026-10-05T07:55:25Z</dcterms:created>
  <dcterms:modified xsi:type="dcterms:W3CDTF">2026-10-05T07:55:25Z</dcterms:modified>
</cp:coreProperties>
</file>